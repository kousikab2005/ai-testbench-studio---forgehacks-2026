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itch" id="{a3e10021-570e-58df-b8ba-72ef9f1db3aa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Hi, I'm [name]. This is AI Testbench Studio, built for ForgeHacks 2026 in the AI plus Education track.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Writing a testbench takes as long as writing the design. And when a simulation fails, beginners cannot tell who is wrong, the testbench or their Verilog. So many students skip verification altogether.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Testbench Studio fixes that. Upload RTL, an LLM writes a self-checking testbench, Icarus Verilog compiles and simulates it, the AI repairs compile errors, and if checks fail it tells you whether the testbench or your design is at fault.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pipeline: upload, generate, compile, simulate, verdict. Two feedback loops: compile errors are sent back to the AI, and failing checks trigger a verdict on whether the testbench or the RTL is wrong.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Switch to the app. Demo 1: alu8, all checks pass. Demo 2: buggy decade counter, the AI reports an RTL bug. Demo 3: open the waveform.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Under the hood: provider-agnostic LLM backends, strict prompt engineering, closed-loop tool use with Icarus Verilog, verdict reasoning, and guards against false passes.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 is free to run, works offline, and the AI's work is checked by a real simulator rather than trusted blindly.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Built for ForgeHacks, AI plus Education. The code is on GitHub. Thanks for watching.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371600"/>
            <a:ext cx="786384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2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4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651760"/>
            <a:ext cx="78638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37160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chemeClr val="bg1"/>
                </a:solidFill>
              </a:rPr>
              <a:t>AI Testbench Studio</a:t>
            </a:r>
            <a:endParaRPr lang="en-US" sz="4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65176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000" dirty="0">
                <a:solidFill>
                  <a:schemeClr val="accent1"/>
                </a:solidFill>
              </a:rPr>
              <a:t>From RTL to verified, with an AI that debugs itself.</a:t>
            </a:r>
            <a:endParaRPr lang="en-US" sz="2000" dirty="0"/>
          </a:p>
        </p:txBody>
      </p:sp>
      <p:sp>
        <p:nvSpPr>
          <p:cNvPr id="4" name="Event"/>
          <p:cNvSpPr txBox="1"/>
          <p:nvPr/>
        </p:nvSpPr>
        <p:spPr>
          <a:xfrm>
            <a:off x="640080" y="42062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ForgeHacks 2026  |  Track: AI + Education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The problem: verification is hard to learn</a:t>
            </a:r>
            <a:endParaRPr lang="en-US" sz="3000" dirty="0"/>
          </a:p>
        </p:txBody>
      </p:sp>
      <p:sp>
        <p:nvSpPr>
          <p:cNvPr id="3" name="P1 card"/>
          <p:cNvSpPr/>
          <p:nvPr/>
        </p:nvSpPr>
        <p:spPr>
          <a:xfrm>
            <a:off x="548640" y="1371600"/>
            <a:ext cx="2560320" cy="2194560"/>
          </a:xfrm>
          <a:prstGeom prst="roundRect">
            <a:avLst>
              <a:gd name="adj" fmla="val 3333"/>
            </a:avLst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4" name="P1 accent"/>
          <p:cNvSpPr/>
          <p:nvPr/>
        </p:nvSpPr>
        <p:spPr>
          <a:xfrm>
            <a:off x="548640" y="1481328"/>
            <a:ext cx="64008" cy="1975104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5" name="P1 head"/>
          <p:cNvSpPr txBox="1"/>
          <p:nvPr/>
        </p:nvSpPr>
        <p:spPr>
          <a:xfrm>
            <a:off x="777240" y="148132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Testbenches are hard</a:t>
            </a:r>
            <a:endParaRPr lang="en-US" sz="1600" dirty="0"/>
          </a:p>
        </p:txBody>
      </p:sp>
      <p:sp>
        <p:nvSpPr>
          <p:cNvPr id="6" name="P1 body"/>
          <p:cNvSpPr txBox="1"/>
          <p:nvPr/>
        </p:nvSpPr>
        <p:spPr>
          <a:xfrm>
            <a:off x="777240" y="1874520"/>
            <a:ext cx="2194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Writing one takes as long as the design: timing, reference models, tool flags.</a:t>
            </a:r>
            <a:endParaRPr lang="en-US" sz="1300" dirty="0"/>
          </a:p>
        </p:txBody>
      </p:sp>
      <p:sp>
        <p:nvSpPr>
          <p:cNvPr id="7" name="P2 card"/>
          <p:cNvSpPr/>
          <p:nvPr/>
        </p:nvSpPr>
        <p:spPr>
          <a:xfrm>
            <a:off x="3291840" y="1371600"/>
            <a:ext cx="2560320" cy="2194560"/>
          </a:xfrm>
          <a:prstGeom prst="roundRect">
            <a:avLst>
              <a:gd name="adj" fmla="val 3333"/>
            </a:avLst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8" name="P2 accent"/>
          <p:cNvSpPr/>
          <p:nvPr/>
        </p:nvSpPr>
        <p:spPr>
          <a:xfrm>
            <a:off x="3291840" y="1481328"/>
            <a:ext cx="64008" cy="1975104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9" name="P2 head"/>
          <p:cNvSpPr txBox="1"/>
          <p:nvPr/>
        </p:nvSpPr>
        <p:spPr>
          <a:xfrm>
            <a:off x="3520440" y="148132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Failures are confusing</a:t>
            </a:r>
            <a:endParaRPr lang="en-US" sz="1600" dirty="0"/>
          </a:p>
        </p:txBody>
      </p:sp>
      <p:sp>
        <p:nvSpPr>
          <p:cNvPr id="10" name="P2 body"/>
          <p:cNvSpPr txBox="1"/>
          <p:nvPr/>
        </p:nvSpPr>
        <p:spPr>
          <a:xfrm>
            <a:off x="3520440" y="1874520"/>
            <a:ext cx="2194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When a simulation fails, beginners cannot tell if the testbench or the RTL is wrong.</a:t>
            </a:r>
            <a:endParaRPr lang="en-US" sz="1300" dirty="0"/>
          </a:p>
        </p:txBody>
      </p:sp>
      <p:sp>
        <p:nvSpPr>
          <p:cNvPr id="11" name="P3 card"/>
          <p:cNvSpPr/>
          <p:nvPr/>
        </p:nvSpPr>
        <p:spPr>
          <a:xfrm>
            <a:off x="6035040" y="1371600"/>
            <a:ext cx="2560320" cy="2194560"/>
          </a:xfrm>
          <a:prstGeom prst="roundRect">
            <a:avLst>
              <a:gd name="adj" fmla="val 3333"/>
            </a:avLst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2" name="P3 accent"/>
          <p:cNvSpPr/>
          <p:nvPr/>
        </p:nvSpPr>
        <p:spPr>
          <a:xfrm>
            <a:off x="6035040" y="1481328"/>
            <a:ext cx="64008" cy="1975104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3" name="P3 head"/>
          <p:cNvSpPr txBox="1"/>
          <p:nvPr/>
        </p:nvSpPr>
        <p:spPr>
          <a:xfrm>
            <a:off x="6263640" y="148132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So it gets skipped</a:t>
            </a:r>
            <a:endParaRPr lang="en-US" sz="1600" dirty="0"/>
          </a:p>
        </p:txBody>
      </p:sp>
      <p:sp>
        <p:nvSpPr>
          <p:cNvPr id="14" name="P3 body"/>
          <p:cNvSpPr txBox="1"/>
          <p:nvPr/>
        </p:nvSpPr>
        <p:spPr>
          <a:xfrm>
            <a:off x="6263640" y="1874520"/>
            <a:ext cx="2194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Students and hobbyists ship unverified hardware and miss the habits that matter.</a:t>
            </a:r>
            <a:endParaRPr lang="en-US" sz="1300" dirty="0"/>
          </a:p>
        </p:txBody>
      </p:sp>
      <p:sp>
        <p:nvSpPr>
          <p:cNvPr id="15" name="Audience"/>
          <p:cNvSpPr txBox="1"/>
          <p:nvPr/>
        </p:nvSpPr>
        <p:spPr>
          <a:xfrm>
            <a:off x="548640" y="39319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Who it hurts: digital-design students, FPGA / RISC-V hobbyists, instructors.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The solution: an AI verification partner</a:t>
            </a:r>
            <a:endParaRPr lang="en-US" sz="3000" dirty="0"/>
          </a:p>
        </p:txBody>
      </p:sp>
      <p:sp>
        <p:nvSpPr>
          <p:cNvPr id="3" name="Sol1 card"/>
          <p:cNvSpPr/>
          <p:nvPr/>
        </p:nvSpPr>
        <p:spPr>
          <a:xfrm>
            <a:off x="548640" y="1463040"/>
            <a:ext cx="1920240" cy="2011680"/>
          </a:xfrm>
          <a:prstGeom prst="roundRect">
            <a:avLst>
              <a:gd name="adj" fmla="val 3810"/>
            </a:avLst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4" name="Sol1 accent"/>
          <p:cNvSpPr/>
          <p:nvPr/>
        </p:nvSpPr>
        <p:spPr>
          <a:xfrm>
            <a:off x="548640" y="1572768"/>
            <a:ext cx="64008" cy="179222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Sol1 head"/>
          <p:cNvSpPr txBox="1"/>
          <p:nvPr/>
        </p:nvSpPr>
        <p:spPr>
          <a:xfrm>
            <a:off x="777240" y="157276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Upload RTL</a:t>
            </a:r>
            <a:endParaRPr lang="en-US" sz="1600" dirty="0"/>
          </a:p>
        </p:txBody>
      </p:sp>
      <p:sp>
        <p:nvSpPr>
          <p:cNvPr id="6" name="Sol1 body"/>
          <p:cNvSpPr txBox="1"/>
          <p:nvPr/>
        </p:nvSpPr>
        <p:spPr>
          <a:xfrm>
            <a:off x="777240" y="1965960"/>
            <a:ext cx="1554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Verilog or SystemVerilog file</a:t>
            </a:r>
            <a:endParaRPr lang="en-US" sz="1300" dirty="0"/>
          </a:p>
        </p:txBody>
      </p:sp>
      <p:sp>
        <p:nvSpPr>
          <p:cNvPr id="7" name="Sol2 card"/>
          <p:cNvSpPr/>
          <p:nvPr/>
        </p:nvSpPr>
        <p:spPr>
          <a:xfrm>
            <a:off x="2606040" y="1463040"/>
            <a:ext cx="1920240" cy="2011680"/>
          </a:xfrm>
          <a:prstGeom prst="roundRect">
            <a:avLst>
              <a:gd name="adj" fmla="val 3810"/>
            </a:avLst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8" name="Sol2 accent"/>
          <p:cNvSpPr/>
          <p:nvPr/>
        </p:nvSpPr>
        <p:spPr>
          <a:xfrm>
            <a:off x="2606040" y="1572768"/>
            <a:ext cx="64008" cy="1792224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9" name="Sol2 head"/>
          <p:cNvSpPr txBox="1"/>
          <p:nvPr/>
        </p:nvSpPr>
        <p:spPr>
          <a:xfrm>
            <a:off x="2834640" y="157276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AI writes testbench</a:t>
            </a:r>
            <a:endParaRPr lang="en-US" sz="1600" dirty="0"/>
          </a:p>
        </p:txBody>
      </p:sp>
      <p:sp>
        <p:nvSpPr>
          <p:cNvPr id="10" name="Sol2 body"/>
          <p:cNvSpPr txBox="1"/>
          <p:nvPr/>
        </p:nvSpPr>
        <p:spPr>
          <a:xfrm>
            <a:off x="2834640" y="1965960"/>
            <a:ext cx="1554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Self-checking, with corner cases</a:t>
            </a:r>
            <a:endParaRPr lang="en-US" sz="1300" dirty="0"/>
          </a:p>
        </p:txBody>
      </p:sp>
      <p:sp>
        <p:nvSpPr>
          <p:cNvPr id="11" name="Sol3 card"/>
          <p:cNvSpPr/>
          <p:nvPr/>
        </p:nvSpPr>
        <p:spPr>
          <a:xfrm>
            <a:off x="4663440" y="1463040"/>
            <a:ext cx="1920240" cy="2011680"/>
          </a:xfrm>
          <a:prstGeom prst="roundRect">
            <a:avLst>
              <a:gd name="adj" fmla="val 3810"/>
            </a:avLst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2" name="Sol3 accent"/>
          <p:cNvSpPr/>
          <p:nvPr/>
        </p:nvSpPr>
        <p:spPr>
          <a:xfrm>
            <a:off x="4663440" y="1572768"/>
            <a:ext cx="64008" cy="1792224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3" name="Sol3 head"/>
          <p:cNvSpPr txBox="1"/>
          <p:nvPr/>
        </p:nvSpPr>
        <p:spPr>
          <a:xfrm>
            <a:off x="4892040" y="157276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Real simulation</a:t>
            </a:r>
            <a:endParaRPr lang="en-US" sz="1600" dirty="0"/>
          </a:p>
        </p:txBody>
      </p:sp>
      <p:sp>
        <p:nvSpPr>
          <p:cNvPr id="14" name="Sol3 body"/>
          <p:cNvSpPr txBox="1"/>
          <p:nvPr/>
        </p:nvSpPr>
        <p:spPr>
          <a:xfrm>
            <a:off x="4892040" y="1965960"/>
            <a:ext cx="1554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Icarus Verilog compiles and runs it</a:t>
            </a:r>
            <a:endParaRPr lang="en-US" sz="1300" dirty="0"/>
          </a:p>
        </p:txBody>
      </p:sp>
      <p:sp>
        <p:nvSpPr>
          <p:cNvPr id="15" name="Sol4 card"/>
          <p:cNvSpPr/>
          <p:nvPr/>
        </p:nvSpPr>
        <p:spPr>
          <a:xfrm>
            <a:off x="6720840" y="1463040"/>
            <a:ext cx="1920240" cy="2011680"/>
          </a:xfrm>
          <a:prstGeom prst="roundRect">
            <a:avLst>
              <a:gd name="adj" fmla="val 3810"/>
            </a:avLst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6" name="Sol4 accent"/>
          <p:cNvSpPr/>
          <p:nvPr/>
        </p:nvSpPr>
        <p:spPr>
          <a:xfrm>
            <a:off x="6720840" y="1572768"/>
            <a:ext cx="64008" cy="1792224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17" name="Sol4 head"/>
          <p:cNvSpPr txBox="1"/>
          <p:nvPr/>
        </p:nvSpPr>
        <p:spPr>
          <a:xfrm>
            <a:off x="6949440" y="157276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AI explains failures</a:t>
            </a:r>
            <a:endParaRPr lang="en-US" sz="1600" dirty="0"/>
          </a:p>
        </p:txBody>
      </p:sp>
      <p:sp>
        <p:nvSpPr>
          <p:cNvPr id="18" name="Sol4 body"/>
          <p:cNvSpPr txBox="1"/>
          <p:nvPr/>
        </p:nvSpPr>
        <p:spPr>
          <a:xfrm>
            <a:off x="6949440" y="1965960"/>
            <a:ext cx="1554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Testbench error or real RTL bug</a:t>
            </a:r>
            <a:endParaRPr lang="en-US" sz="1300" dirty="0"/>
          </a:p>
        </p:txBody>
      </p:sp>
      <p:sp>
        <p:nvSpPr>
          <p:cNvPr id="19" name="Principle"/>
          <p:cNvSpPr txBox="1"/>
          <p:nvPr/>
        </p:nvSpPr>
        <p:spPr>
          <a:xfrm>
            <a:off x="548640" y="38404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The AI's work is checked by a real simulator, never trusted blindly.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How it works</a:t>
            </a:r>
            <a:endParaRPr lang="en-US" sz="3000" dirty="0"/>
          </a:p>
        </p:txBody>
      </p:sp>
      <p:sp>
        <p:nvSpPr>
          <p:cNvPr id="3" name="Step1"/>
          <p:cNvSpPr/>
          <p:nvPr/>
        </p:nvSpPr>
        <p:spPr>
          <a:xfrm>
            <a:off x="365760" y="1463040"/>
            <a:ext cx="1463040" cy="82296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</p:spPr>
      </p:sp>
      <p:sp>
        <p:nvSpPr>
          <p:cNvPr id="4" name="StepText1"/>
          <p:cNvSpPr txBox="1"/>
          <p:nvPr/>
        </p:nvSpPr>
        <p:spPr>
          <a:xfrm>
            <a:off x="365760" y="1463040"/>
            <a:ext cx="146304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RTL file</a:t>
            </a:r>
            <a:endParaRPr lang="en-US" sz="1400" dirty="0"/>
          </a:p>
        </p:txBody>
      </p:sp>
      <p:sp>
        <p:nvSpPr>
          <p:cNvPr id="5" name="Arrow1"/>
          <p:cNvSpPr txBox="1"/>
          <p:nvPr/>
        </p:nvSpPr>
        <p:spPr>
          <a:xfrm>
            <a:off x="1828800" y="160020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&gt;</a:t>
            </a:r>
            <a:endParaRPr lang="en-US" sz="2200" dirty="0"/>
          </a:p>
        </p:txBody>
      </p:sp>
      <p:sp>
        <p:nvSpPr>
          <p:cNvPr id="6" name="Step2"/>
          <p:cNvSpPr/>
          <p:nvPr/>
        </p:nvSpPr>
        <p:spPr>
          <a:xfrm>
            <a:off x="2103120" y="1463040"/>
            <a:ext cx="1463040" cy="822960"/>
          </a:xfrm>
          <a:prstGeom prst="roundRect">
            <a:avLst>
              <a:gd name="adj" fmla="val 8889"/>
            </a:avLst>
          </a:prstGeom>
          <a:solidFill>
            <a:schemeClr val="accent3"/>
          </a:solidFill>
          <a:ln/>
        </p:spPr>
      </p:sp>
      <p:sp>
        <p:nvSpPr>
          <p:cNvPr id="7" name="StepText2"/>
          <p:cNvSpPr txBox="1"/>
          <p:nvPr/>
        </p:nvSpPr>
        <p:spPr>
          <a:xfrm>
            <a:off x="2103120" y="1463040"/>
            <a:ext cx="146304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LLM writes tb.v</a:t>
            </a:r>
            <a:endParaRPr lang="en-US" sz="1400" dirty="0"/>
          </a:p>
        </p:txBody>
      </p:sp>
      <p:sp>
        <p:nvSpPr>
          <p:cNvPr id="8" name="Arrow2"/>
          <p:cNvSpPr txBox="1"/>
          <p:nvPr/>
        </p:nvSpPr>
        <p:spPr>
          <a:xfrm>
            <a:off x="3566160" y="160020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&gt;</a:t>
            </a:r>
            <a:endParaRPr lang="en-US" sz="2200" dirty="0"/>
          </a:p>
        </p:txBody>
      </p:sp>
      <p:sp>
        <p:nvSpPr>
          <p:cNvPr id="9" name="Step3"/>
          <p:cNvSpPr/>
          <p:nvPr/>
        </p:nvSpPr>
        <p:spPr>
          <a:xfrm>
            <a:off x="3840480" y="1463040"/>
            <a:ext cx="1463040" cy="822960"/>
          </a:xfrm>
          <a:prstGeom prst="roundRect">
            <a:avLst>
              <a:gd name="adj" fmla="val 8889"/>
            </a:avLst>
          </a:prstGeom>
          <a:solidFill>
            <a:schemeClr val="accent1"/>
          </a:solidFill>
          <a:ln/>
        </p:spPr>
      </p:sp>
      <p:sp>
        <p:nvSpPr>
          <p:cNvPr id="10" name="StepText3"/>
          <p:cNvSpPr txBox="1"/>
          <p:nvPr/>
        </p:nvSpPr>
        <p:spPr>
          <a:xfrm>
            <a:off x="3840480" y="1463040"/>
            <a:ext cx="146304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iverilog compile</a:t>
            </a:r>
            <a:endParaRPr lang="en-US" sz="1400" dirty="0"/>
          </a:p>
        </p:txBody>
      </p:sp>
      <p:sp>
        <p:nvSpPr>
          <p:cNvPr id="11" name="Arrow3"/>
          <p:cNvSpPr txBox="1"/>
          <p:nvPr/>
        </p:nvSpPr>
        <p:spPr>
          <a:xfrm>
            <a:off x="5303520" y="160020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&gt;</a:t>
            </a:r>
            <a:endParaRPr lang="en-US" sz="2200" dirty="0"/>
          </a:p>
        </p:txBody>
      </p:sp>
      <p:sp>
        <p:nvSpPr>
          <p:cNvPr id="12" name="Step4"/>
          <p:cNvSpPr/>
          <p:nvPr/>
        </p:nvSpPr>
        <p:spPr>
          <a:xfrm>
            <a:off x="5577840" y="1463040"/>
            <a:ext cx="1463040" cy="822960"/>
          </a:xfrm>
          <a:prstGeom prst="roundRect">
            <a:avLst>
              <a:gd name="adj" fmla="val 8889"/>
            </a:avLst>
          </a:prstGeom>
          <a:solidFill>
            <a:schemeClr val="accent1"/>
          </a:solidFill>
          <a:ln/>
        </p:spPr>
      </p:sp>
      <p:sp>
        <p:nvSpPr>
          <p:cNvPr id="13" name="StepText4"/>
          <p:cNvSpPr txBox="1"/>
          <p:nvPr/>
        </p:nvSpPr>
        <p:spPr>
          <a:xfrm>
            <a:off x="5577840" y="1463040"/>
            <a:ext cx="146304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vvp simulate</a:t>
            </a:r>
            <a:endParaRPr lang="en-US" sz="1400" dirty="0"/>
          </a:p>
        </p:txBody>
      </p:sp>
      <p:sp>
        <p:nvSpPr>
          <p:cNvPr id="14" name="Arrow4"/>
          <p:cNvSpPr txBox="1"/>
          <p:nvPr/>
        </p:nvSpPr>
        <p:spPr>
          <a:xfrm>
            <a:off x="7040880" y="160020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&gt;</a:t>
            </a:r>
            <a:endParaRPr lang="en-US" sz="2200" dirty="0"/>
          </a:p>
        </p:txBody>
      </p:sp>
      <p:sp>
        <p:nvSpPr>
          <p:cNvPr id="15" name="Step5"/>
          <p:cNvSpPr/>
          <p:nvPr/>
        </p:nvSpPr>
        <p:spPr>
          <a:xfrm>
            <a:off x="7315200" y="1463040"/>
            <a:ext cx="1463040" cy="822960"/>
          </a:xfrm>
          <a:prstGeom prst="roundRect">
            <a:avLst>
              <a:gd name="adj" fmla="val 8889"/>
            </a:avLst>
          </a:prstGeom>
          <a:solidFill>
            <a:schemeClr val="accent2"/>
          </a:solidFill>
          <a:ln/>
        </p:spPr>
      </p:sp>
      <p:sp>
        <p:nvSpPr>
          <p:cNvPr id="16" name="StepText5"/>
          <p:cNvSpPr txBox="1"/>
          <p:nvPr/>
        </p:nvSpPr>
        <p:spPr>
          <a:xfrm>
            <a:off x="7315200" y="1463040"/>
            <a:ext cx="146304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Verdict</a:t>
            </a:r>
            <a:endParaRPr lang="en-US" sz="1400" dirty="0"/>
          </a:p>
        </p:txBody>
      </p:sp>
      <p:sp>
        <p:nvSpPr>
          <p:cNvPr id="17" name="L1 card"/>
          <p:cNvSpPr/>
          <p:nvPr/>
        </p:nvSpPr>
        <p:spPr>
          <a:xfrm>
            <a:off x="548640" y="2651760"/>
            <a:ext cx="3931920" cy="164592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8" name="L1 accent"/>
          <p:cNvSpPr/>
          <p:nvPr/>
        </p:nvSpPr>
        <p:spPr>
          <a:xfrm>
            <a:off x="548640" y="2761488"/>
            <a:ext cx="64008" cy="142646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9" name="L1 head"/>
          <p:cNvSpPr txBox="1"/>
          <p:nvPr/>
        </p:nvSpPr>
        <p:spPr>
          <a:xfrm>
            <a:off x="777240" y="276148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Loop 1: compile errors</a:t>
            </a:r>
            <a:endParaRPr lang="en-US" sz="1600" dirty="0"/>
          </a:p>
        </p:txBody>
      </p:sp>
      <p:sp>
        <p:nvSpPr>
          <p:cNvPr id="20" name="L1 body"/>
          <p:cNvSpPr txBox="1"/>
          <p:nvPr/>
        </p:nvSpPr>
        <p:spPr>
          <a:xfrm>
            <a:off x="777240" y="315468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Errors go back to the AI, which repairs the testbench automatically (configurable retries).</a:t>
            </a:r>
            <a:endParaRPr lang="en-US" sz="1300" dirty="0"/>
          </a:p>
        </p:txBody>
      </p:sp>
      <p:sp>
        <p:nvSpPr>
          <p:cNvPr id="21" name="L2 card"/>
          <p:cNvSpPr/>
          <p:nvPr/>
        </p:nvSpPr>
        <p:spPr>
          <a:xfrm>
            <a:off x="4663440" y="2651760"/>
            <a:ext cx="3931920" cy="164592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2" name="L2 accent"/>
          <p:cNvSpPr/>
          <p:nvPr/>
        </p:nvSpPr>
        <p:spPr>
          <a:xfrm>
            <a:off x="4663440" y="2761488"/>
            <a:ext cx="64008" cy="1426464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3" name="L2 head"/>
          <p:cNvSpPr txBox="1"/>
          <p:nvPr/>
        </p:nvSpPr>
        <p:spPr>
          <a:xfrm>
            <a:off x="4892040" y="276148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Loop 2: failing checks</a:t>
            </a:r>
            <a:endParaRPr lang="en-US" sz="1600" dirty="0"/>
          </a:p>
        </p:txBody>
      </p:sp>
      <p:sp>
        <p:nvSpPr>
          <p:cNvPr id="24" name="L2 body"/>
          <p:cNvSpPr txBox="1"/>
          <p:nvPr/>
        </p:nvSpPr>
        <p:spPr>
          <a:xfrm>
            <a:off x="4892040" y="315468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AI decides TB_ERROR (fixes testbench) or RTL_BUG (explains your design's bug).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Live demo</a:t>
            </a:r>
            <a:endParaRPr lang="en-US" sz="3000" dirty="0"/>
          </a:p>
        </p:txBody>
      </p:sp>
      <p:sp>
        <p:nvSpPr>
          <p:cNvPr id="3" name="D1 card"/>
          <p:cNvSpPr/>
          <p:nvPr/>
        </p:nvSpPr>
        <p:spPr>
          <a:xfrm>
            <a:off x="548640" y="1371600"/>
            <a:ext cx="2560320" cy="2377440"/>
          </a:xfrm>
          <a:prstGeom prst="roundRect">
            <a:avLst>
              <a:gd name="adj" fmla="val 3077"/>
            </a:avLst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4" name="D1 accent"/>
          <p:cNvSpPr/>
          <p:nvPr/>
        </p:nvSpPr>
        <p:spPr>
          <a:xfrm>
            <a:off x="548640" y="1481328"/>
            <a:ext cx="64008" cy="2157984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5" name="D1 head"/>
          <p:cNvSpPr txBox="1"/>
          <p:nvPr/>
        </p:nvSpPr>
        <p:spPr>
          <a:xfrm>
            <a:off x="777240" y="148132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1. Pass</a:t>
            </a:r>
            <a:endParaRPr lang="en-US" sz="1600" dirty="0"/>
          </a:p>
        </p:txBody>
      </p:sp>
      <p:sp>
        <p:nvSpPr>
          <p:cNvPr id="6" name="D1 body"/>
          <p:cNvSpPr txBox="1"/>
          <p:nvPr/>
        </p:nvSpPr>
        <p:spPr>
          <a:xfrm>
            <a:off x="777240" y="1874520"/>
            <a:ext cx="21945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alu8.v: AI writes the testbench, simulation runs, all checks passed.</a:t>
            </a:r>
            <a:endParaRPr lang="en-US" sz="1300" dirty="0"/>
          </a:p>
        </p:txBody>
      </p:sp>
      <p:sp>
        <p:nvSpPr>
          <p:cNvPr id="7" name="D2 card"/>
          <p:cNvSpPr/>
          <p:nvPr/>
        </p:nvSpPr>
        <p:spPr>
          <a:xfrm>
            <a:off x="3291840" y="1371600"/>
            <a:ext cx="2560320" cy="2377440"/>
          </a:xfrm>
          <a:prstGeom prst="roundRect">
            <a:avLst>
              <a:gd name="adj" fmla="val 3077"/>
            </a:avLst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8" name="D2 accent"/>
          <p:cNvSpPr/>
          <p:nvPr/>
        </p:nvSpPr>
        <p:spPr>
          <a:xfrm>
            <a:off x="3291840" y="1481328"/>
            <a:ext cx="64008" cy="2157984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9" name="D2 head"/>
          <p:cNvSpPr txBox="1"/>
          <p:nvPr/>
        </p:nvSpPr>
        <p:spPr>
          <a:xfrm>
            <a:off x="3520440" y="148132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2. Catch</a:t>
            </a:r>
            <a:endParaRPr lang="en-US" sz="1600" dirty="0"/>
          </a:p>
        </p:txBody>
      </p:sp>
      <p:sp>
        <p:nvSpPr>
          <p:cNvPr id="10" name="D2 body"/>
          <p:cNvSpPr txBox="1"/>
          <p:nvPr/>
        </p:nvSpPr>
        <p:spPr>
          <a:xfrm>
            <a:off x="3520440" y="1874520"/>
            <a:ext cx="21945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Decade counter that wraps at 10 instead of 9: AI verdict is RTL bug, with explanation.</a:t>
            </a:r>
            <a:endParaRPr lang="en-US" sz="1300" dirty="0"/>
          </a:p>
        </p:txBody>
      </p:sp>
      <p:sp>
        <p:nvSpPr>
          <p:cNvPr id="11" name="D3 card"/>
          <p:cNvSpPr/>
          <p:nvPr/>
        </p:nvSpPr>
        <p:spPr>
          <a:xfrm>
            <a:off x="6035040" y="1371600"/>
            <a:ext cx="2560320" cy="2377440"/>
          </a:xfrm>
          <a:prstGeom prst="roundRect">
            <a:avLst>
              <a:gd name="adj" fmla="val 3077"/>
            </a:avLst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2" name="D3 accent"/>
          <p:cNvSpPr/>
          <p:nvPr/>
        </p:nvSpPr>
        <p:spPr>
          <a:xfrm>
            <a:off x="6035040" y="1481328"/>
            <a:ext cx="64008" cy="2157984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3" name="D3 head"/>
          <p:cNvSpPr txBox="1"/>
          <p:nvPr/>
        </p:nvSpPr>
        <p:spPr>
          <a:xfrm>
            <a:off x="6263640" y="148132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3. Inspect</a:t>
            </a:r>
            <a:endParaRPr lang="en-US" sz="1600" dirty="0"/>
          </a:p>
        </p:txBody>
      </p:sp>
      <p:sp>
        <p:nvSpPr>
          <p:cNvPr id="14" name="D3 body"/>
          <p:cNvSpPr txBox="1"/>
          <p:nvPr/>
        </p:nvSpPr>
        <p:spPr>
          <a:xfrm>
            <a:off x="6263640" y="1874520"/>
            <a:ext cx="21945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One click opens GTKWave with the signals already listed.</a:t>
            </a:r>
            <a:endParaRPr lang="en-US" sz="1300" dirty="0"/>
          </a:p>
        </p:txBody>
      </p:sp>
      <p:sp>
        <p:nvSpPr>
          <p:cNvPr id="15" name="Cue"/>
          <p:cNvSpPr txBox="1"/>
          <p:nvPr/>
        </p:nvSpPr>
        <p:spPr>
          <a:xfrm>
            <a:off x="548640" y="40233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Switch to the app now.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Technical components</a:t>
            </a:r>
            <a:endParaRPr lang="en-US" sz="3000" dirty="0"/>
          </a:p>
        </p:txBody>
      </p:sp>
      <p:sp>
        <p:nvSpPr>
          <p:cNvPr id="3" name="T1 card"/>
          <p:cNvSpPr/>
          <p:nvPr/>
        </p:nvSpPr>
        <p:spPr>
          <a:xfrm>
            <a:off x="548640" y="1280160"/>
            <a:ext cx="2560320" cy="146304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4" name="T1 accent"/>
          <p:cNvSpPr/>
          <p:nvPr/>
        </p:nvSpPr>
        <p:spPr>
          <a:xfrm>
            <a:off x="548640" y="1389888"/>
            <a:ext cx="64008" cy="1243584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5" name="T1 head"/>
          <p:cNvSpPr txBox="1"/>
          <p:nvPr/>
        </p:nvSpPr>
        <p:spPr>
          <a:xfrm>
            <a:off x="777240" y="138988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LLM backends</a:t>
            </a:r>
            <a:endParaRPr lang="en-US" sz="1600" dirty="0"/>
          </a:p>
        </p:txBody>
      </p:sp>
      <p:sp>
        <p:nvSpPr>
          <p:cNvPr id="6" name="T1 body"/>
          <p:cNvSpPr txBox="1"/>
          <p:nvPr/>
        </p:nvSpPr>
        <p:spPr>
          <a:xfrm>
            <a:off x="777240" y="178308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Gemini, Groq, Hugging Face, OpenRouter, local Ollama</a:t>
            </a:r>
            <a:endParaRPr lang="en-US" sz="1300" dirty="0"/>
          </a:p>
        </p:txBody>
      </p:sp>
      <p:sp>
        <p:nvSpPr>
          <p:cNvPr id="7" name="T2 card"/>
          <p:cNvSpPr/>
          <p:nvPr/>
        </p:nvSpPr>
        <p:spPr>
          <a:xfrm>
            <a:off x="3291840" y="1280160"/>
            <a:ext cx="2560320" cy="146304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8" name="T2 accent"/>
          <p:cNvSpPr/>
          <p:nvPr/>
        </p:nvSpPr>
        <p:spPr>
          <a:xfrm>
            <a:off x="3291840" y="1389888"/>
            <a:ext cx="64008" cy="124358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9" name="T2 head"/>
          <p:cNvSpPr txBox="1"/>
          <p:nvPr/>
        </p:nvSpPr>
        <p:spPr>
          <a:xfrm>
            <a:off x="3520440" y="138988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Prompt engineering</a:t>
            </a:r>
            <a:endParaRPr lang="en-US" sz="1600" dirty="0"/>
          </a:p>
        </p:txBody>
      </p:sp>
      <p:sp>
        <p:nvSpPr>
          <p:cNvPr id="10" name="T2 body"/>
          <p:cNvSpPr txBox="1"/>
          <p:nvPr/>
        </p:nvSpPr>
        <p:spPr>
          <a:xfrm>
            <a:off x="3520440" y="178308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Strict testbench rules, timing and reference-model guidance</a:t>
            </a:r>
            <a:endParaRPr lang="en-US" sz="1300" dirty="0"/>
          </a:p>
        </p:txBody>
      </p:sp>
      <p:sp>
        <p:nvSpPr>
          <p:cNvPr id="11" name="T3 card"/>
          <p:cNvSpPr/>
          <p:nvPr/>
        </p:nvSpPr>
        <p:spPr>
          <a:xfrm>
            <a:off x="6035040" y="1280160"/>
            <a:ext cx="2560320" cy="146304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2" name="T3 accent"/>
          <p:cNvSpPr/>
          <p:nvPr/>
        </p:nvSpPr>
        <p:spPr>
          <a:xfrm>
            <a:off x="6035040" y="1389888"/>
            <a:ext cx="64008" cy="1243584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3" name="T3 head"/>
          <p:cNvSpPr txBox="1"/>
          <p:nvPr/>
        </p:nvSpPr>
        <p:spPr>
          <a:xfrm>
            <a:off x="6263640" y="138988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Closed-loop tooling</a:t>
            </a:r>
            <a:endParaRPr lang="en-US" sz="1600" dirty="0"/>
          </a:p>
        </p:txBody>
      </p:sp>
      <p:sp>
        <p:nvSpPr>
          <p:cNvPr id="14" name="T3 body"/>
          <p:cNvSpPr txBox="1"/>
          <p:nvPr/>
        </p:nvSpPr>
        <p:spPr>
          <a:xfrm>
            <a:off x="6263640" y="178308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iverilog and vvp results drive repair prompts</a:t>
            </a:r>
            <a:endParaRPr lang="en-US" sz="1300" dirty="0"/>
          </a:p>
        </p:txBody>
      </p:sp>
      <p:sp>
        <p:nvSpPr>
          <p:cNvPr id="15" name="T4 card"/>
          <p:cNvSpPr/>
          <p:nvPr/>
        </p:nvSpPr>
        <p:spPr>
          <a:xfrm>
            <a:off x="548640" y="2926080"/>
            <a:ext cx="2560320" cy="146304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6" name="T4 accent"/>
          <p:cNvSpPr/>
          <p:nvPr/>
        </p:nvSpPr>
        <p:spPr>
          <a:xfrm>
            <a:off x="548640" y="3035808"/>
            <a:ext cx="64008" cy="1243584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17" name="T4 head"/>
          <p:cNvSpPr txBox="1"/>
          <p:nvPr/>
        </p:nvSpPr>
        <p:spPr>
          <a:xfrm>
            <a:off x="777240" y="30358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Verdict reasoning</a:t>
            </a:r>
            <a:endParaRPr lang="en-US" sz="1600" dirty="0"/>
          </a:p>
        </p:txBody>
      </p:sp>
      <p:sp>
        <p:nvSpPr>
          <p:cNvPr id="18" name="T4 body"/>
          <p:cNvSpPr txBox="1"/>
          <p:nvPr/>
        </p:nvSpPr>
        <p:spPr>
          <a:xfrm>
            <a:off x="777240" y="342900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TB_ERROR vs RTL_BUG, conservative about blaming RTL</a:t>
            </a:r>
            <a:endParaRPr lang="en-US" sz="1300" dirty="0"/>
          </a:p>
        </p:txBody>
      </p:sp>
      <p:sp>
        <p:nvSpPr>
          <p:cNvPr id="19" name="T5 card"/>
          <p:cNvSpPr/>
          <p:nvPr/>
        </p:nvSpPr>
        <p:spPr>
          <a:xfrm>
            <a:off x="3291840" y="2926080"/>
            <a:ext cx="2560320" cy="146304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0" name="T5 accent"/>
          <p:cNvSpPr/>
          <p:nvPr/>
        </p:nvSpPr>
        <p:spPr>
          <a:xfrm>
            <a:off x="3291840" y="3035808"/>
            <a:ext cx="64008" cy="1243584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21" name="T5 head"/>
          <p:cNvSpPr txBox="1"/>
          <p:nvPr/>
        </p:nvSpPr>
        <p:spPr>
          <a:xfrm>
            <a:off x="3520440" y="30358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Sanity guards</a:t>
            </a:r>
            <a:endParaRPr lang="en-US" sz="1600" dirty="0"/>
          </a:p>
        </p:txBody>
      </p:sp>
      <p:sp>
        <p:nvSpPr>
          <p:cNvPr id="22" name="T5 body"/>
          <p:cNvSpPr txBox="1"/>
          <p:nvPr/>
        </p:nvSpPr>
        <p:spPr>
          <a:xfrm>
            <a:off x="3520440" y="342900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Catches t=0 runs, watchdog hits, and zero checks</a:t>
            </a:r>
            <a:endParaRPr lang="en-US" sz="1300" dirty="0"/>
          </a:p>
        </p:txBody>
      </p:sp>
      <p:sp>
        <p:nvSpPr>
          <p:cNvPr id="23" name="T6 card"/>
          <p:cNvSpPr/>
          <p:nvPr/>
        </p:nvSpPr>
        <p:spPr>
          <a:xfrm>
            <a:off x="6035040" y="2926080"/>
            <a:ext cx="2560320" cy="146304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4" name="T6 accent"/>
          <p:cNvSpPr/>
          <p:nvPr/>
        </p:nvSpPr>
        <p:spPr>
          <a:xfrm>
            <a:off x="6035040" y="3035808"/>
            <a:ext cx="64008" cy="1243584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25" name="T6 head"/>
          <p:cNvSpPr txBox="1"/>
          <p:nvPr/>
        </p:nvSpPr>
        <p:spPr>
          <a:xfrm>
            <a:off x="6263640" y="30358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Python + Tkinter</a:t>
            </a:r>
            <a:endParaRPr lang="en-US" sz="1600" dirty="0"/>
          </a:p>
        </p:txBody>
      </p:sp>
      <p:sp>
        <p:nvSpPr>
          <p:cNvPr id="26" name="T6 body"/>
          <p:cNvSpPr txBox="1"/>
          <p:nvPr/>
        </p:nvSpPr>
        <p:spPr>
          <a:xfrm>
            <a:off x="6263640" y="342900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Standard library only, plus GTKWave integration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Real-world impact</a:t>
            </a:r>
            <a:endParaRPr lang="en-US" sz="3000" dirty="0"/>
          </a:p>
        </p:txBody>
      </p:sp>
      <p:sp>
        <p:nvSpPr>
          <p:cNvPr id="3" name="I1 card"/>
          <p:cNvSpPr/>
          <p:nvPr/>
        </p:nvSpPr>
        <p:spPr>
          <a:xfrm>
            <a:off x="548640" y="1371600"/>
            <a:ext cx="2560320" cy="2377440"/>
          </a:xfrm>
          <a:prstGeom prst="roundRect">
            <a:avLst>
              <a:gd name="adj" fmla="val 3077"/>
            </a:avLst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4" name="I1 accent"/>
          <p:cNvSpPr/>
          <p:nvPr/>
        </p:nvSpPr>
        <p:spPr>
          <a:xfrm>
            <a:off x="548640" y="1481328"/>
            <a:ext cx="64008" cy="215798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I1 head"/>
          <p:cNvSpPr txBox="1"/>
          <p:nvPr/>
        </p:nvSpPr>
        <p:spPr>
          <a:xfrm>
            <a:off x="777240" y="148132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Students</a:t>
            </a:r>
            <a:endParaRPr lang="en-US" sz="1600" dirty="0"/>
          </a:p>
        </p:txBody>
      </p:sp>
      <p:sp>
        <p:nvSpPr>
          <p:cNvPr id="6" name="I1 body"/>
          <p:cNvSpPr txBox="1"/>
          <p:nvPr/>
        </p:nvSpPr>
        <p:spPr>
          <a:xfrm>
            <a:off x="777240" y="1874520"/>
            <a:ext cx="21945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 working testbench, live results, and plain-English failure explanations teach verification habits.</a:t>
            </a:r>
            <a:endParaRPr lang="en-US" sz="1300" dirty="0"/>
          </a:p>
        </p:txBody>
      </p:sp>
      <p:sp>
        <p:nvSpPr>
          <p:cNvPr id="7" name="I2 card"/>
          <p:cNvSpPr/>
          <p:nvPr/>
        </p:nvSpPr>
        <p:spPr>
          <a:xfrm>
            <a:off x="3291840" y="1371600"/>
            <a:ext cx="2560320" cy="2377440"/>
          </a:xfrm>
          <a:prstGeom prst="roundRect">
            <a:avLst>
              <a:gd name="adj" fmla="val 3077"/>
            </a:avLst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8" name="I2 accent"/>
          <p:cNvSpPr/>
          <p:nvPr/>
        </p:nvSpPr>
        <p:spPr>
          <a:xfrm>
            <a:off x="3291840" y="1481328"/>
            <a:ext cx="64008" cy="2157984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9" name="I2 head"/>
          <p:cNvSpPr txBox="1"/>
          <p:nvPr/>
        </p:nvSpPr>
        <p:spPr>
          <a:xfrm>
            <a:off x="3520440" y="148132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Small teams</a:t>
            </a:r>
            <a:endParaRPr lang="en-US" sz="1600" dirty="0"/>
          </a:p>
        </p:txBody>
      </p:sp>
      <p:sp>
        <p:nvSpPr>
          <p:cNvPr id="10" name="I2 body"/>
          <p:cNvSpPr txBox="1"/>
          <p:nvPr/>
        </p:nvSpPr>
        <p:spPr>
          <a:xfrm>
            <a:off x="3520440" y="1874520"/>
            <a:ext cx="21945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Removes testbench boilerplate for FPGA and open-source RISC-V projects.</a:t>
            </a:r>
            <a:endParaRPr lang="en-US" sz="1300" dirty="0"/>
          </a:p>
        </p:txBody>
      </p:sp>
      <p:sp>
        <p:nvSpPr>
          <p:cNvPr id="11" name="I3 card"/>
          <p:cNvSpPr/>
          <p:nvPr/>
        </p:nvSpPr>
        <p:spPr>
          <a:xfrm>
            <a:off x="6035040" y="1371600"/>
            <a:ext cx="2560320" cy="2377440"/>
          </a:xfrm>
          <a:prstGeom prst="roundRect">
            <a:avLst>
              <a:gd name="adj" fmla="val 3077"/>
            </a:avLst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2" name="I3 accent"/>
          <p:cNvSpPr/>
          <p:nvPr/>
        </p:nvSpPr>
        <p:spPr>
          <a:xfrm>
            <a:off x="6035040" y="1481328"/>
            <a:ext cx="64008" cy="2157984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3" name="I3 head"/>
          <p:cNvSpPr txBox="1"/>
          <p:nvPr/>
        </p:nvSpPr>
        <p:spPr>
          <a:xfrm>
            <a:off x="6263640" y="148132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Classrooms</a:t>
            </a:r>
            <a:endParaRPr lang="en-US" sz="1600" dirty="0"/>
          </a:p>
        </p:txBody>
      </p:sp>
      <p:sp>
        <p:nvSpPr>
          <p:cNvPr id="14" name="I3 body"/>
          <p:cNvSpPr txBox="1"/>
          <p:nvPr/>
        </p:nvSpPr>
        <p:spPr>
          <a:xfrm>
            <a:off x="6263640" y="1874520"/>
            <a:ext cx="21945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Free-tier and fully offline options work with low budgets and poor connectivity.</a:t>
            </a:r>
            <a:endParaRPr lang="en-US" sz="1300" dirty="0"/>
          </a:p>
        </p:txBody>
      </p:sp>
      <p:sp>
        <p:nvSpPr>
          <p:cNvPr id="15" name="Trust"/>
          <p:cNvSpPr txBox="1"/>
          <p:nvPr/>
        </p:nvSpPr>
        <p:spPr>
          <a:xfrm>
            <a:off x="548640" y="40233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Trustworthy by design: a real simulator checks the AI.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37160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chemeClr val="bg1"/>
                </a:solidFill>
              </a:rPr>
              <a:t>Thank you</a:t>
            </a:r>
            <a:endParaRPr lang="en-US" sz="4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65176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000" dirty="0">
                <a:solidFill>
                  <a:schemeClr val="accent1"/>
                </a:solidFill>
              </a:rPr>
              <a:t>GitHub: &lt;your-repo-url&gt;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chemeClr val="accent1"/>
                </a:solidFill>
              </a:rPr>
              <a:t>Video: &lt;your-youtube-url&gt;</a:t>
            </a:r>
            <a:endParaRPr lang="en-US" sz="2000" dirty="0"/>
          </a:p>
        </p:txBody>
      </p:sp>
      <p:sp>
        <p:nvSpPr>
          <p:cNvPr id="4" name="Footer"/>
          <p:cNvSpPr txBox="1"/>
          <p:nvPr/>
        </p:nvSpPr>
        <p:spPr>
          <a:xfrm>
            <a:off x="640080" y="42062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AI Testbench Studio  |  ForgeHacks 2026  |  AI + Education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BStudio">
  <a:themeElements>
    <a:clrScheme name="TBStudio">
      <a:dk1>
        <a:srgbClr val="0F172A"/>
      </a:dk1>
      <a:lt1>
        <a:srgbClr val="FFFFFF"/>
      </a:lt1>
      <a:dk2>
        <a:srgbClr val="475569"/>
      </a:dk2>
      <a:lt2>
        <a:srgbClr val="F1F5F9"/>
      </a:lt2>
      <a:accent1>
        <a:srgbClr val="14B8A6"/>
      </a:accent1>
      <a:accent2>
        <a:srgbClr val="F59E0B"/>
      </a:accent2>
      <a:accent3>
        <a:srgbClr val="6366F1"/>
      </a:accent3>
      <a:accent4>
        <a:srgbClr val="EF4444"/>
      </a:accent4>
      <a:accent5>
        <a:srgbClr val="22C55E"/>
      </a:accent5>
      <a:accent6>
        <a:srgbClr val="38BDF8"/>
      </a:accent6>
      <a:hlink>
        <a:srgbClr val="14B8A6"/>
      </a:hlink>
      <a:folHlink>
        <a:srgbClr val="6366F1"/>
      </a:folHlink>
    </a:clrScheme>
    <a:fontScheme name="TBStudio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Testbench Studio</dc:title>
  <dc:subject>PptxGenJS Presentation</dc:subject>
  <dc:creator>PptxGenJS</dc:creator>
  <cp:lastModifiedBy>PptxGenJS</cp:lastModifiedBy>
  <cp:revision>1</cp:revision>
  <dcterms:created xsi:type="dcterms:W3CDTF">2026-10-09T04:51:34Z</dcterms:created>
  <dcterms:modified xsi:type="dcterms:W3CDTF">2026-10-09T04:51:34Z</dcterms:modified>
</cp:coreProperties>
</file>